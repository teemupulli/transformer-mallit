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6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22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Shape 2"/>
          <p:cNvSpPr/>
          <p:nvPr/>
        </p:nvSpPr>
        <p:spPr>
          <a:xfrm>
            <a:off x="0" y="73152"/>
            <a:ext cx="502920" cy="499719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777240" y="8686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Johdanto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neuroverkkoihin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77240" y="3337560"/>
            <a:ext cx="36576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Neuroverkkoprojekti  ·  Johdantoluento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B3C5D"/>
                </a:solidFill>
                <a:latin typeface="Calibri" pitchFamily="34" charset="0"/>
                <a:cs typeface="Calibri" pitchFamily="34" charset="-120"/>
              </a:rPr>
              <a:t>Sisältö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347472" y="12801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051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Motivaatio &amp; historia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0000" y="1463040"/>
            <a:ext cx="3469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Miksi neuroverkot? Mistä ne tulivat?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6032" y="228600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1" name="Shape 9"/>
          <p:cNvSpPr/>
          <p:nvPr/>
        </p:nvSpPr>
        <p:spPr>
          <a:xfrm>
            <a:off x="347472" y="260604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34747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" y="23774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Neuroverkkojen rakennuspalikat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0000" y="2788920"/>
            <a:ext cx="3469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Neuroni, aktivointifunktiot, kerrokset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" y="361188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6" name="Shape 14"/>
          <p:cNvSpPr/>
          <p:nvPr/>
        </p:nvSpPr>
        <p:spPr>
          <a:xfrm>
            <a:off x="347472" y="393192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347472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" y="37033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Harjoitteluprosessi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0000" y="4114800"/>
            <a:ext cx="3469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pass, loss, backprop, gradientti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99432" y="96012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21" name="Shape 19"/>
          <p:cNvSpPr/>
          <p:nvPr/>
        </p:nvSpPr>
        <p:spPr>
          <a:xfrm>
            <a:off x="4690872" y="12801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4690872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3792" y="1051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– Konvolutiiviset verkot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53208" y="1463040"/>
            <a:ext cx="346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Kuvan käsittely, MNIST, CIFAR-10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9432" y="228600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26" name="Shape 24"/>
          <p:cNvSpPr/>
          <p:nvPr/>
        </p:nvSpPr>
        <p:spPr>
          <a:xfrm>
            <a:off x="4690872" y="260604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5"/>
          <p:cNvSpPr/>
          <p:nvPr/>
        </p:nvSpPr>
        <p:spPr>
          <a:xfrm>
            <a:off x="469087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23774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 – lyhyt maininta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53208" y="2788920"/>
            <a:ext cx="346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Vanhentunut lähestymistapa sekvenssidatalle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99432" y="3611880"/>
            <a:ext cx="411480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31" name="Shape 29"/>
          <p:cNvSpPr/>
          <p:nvPr/>
        </p:nvSpPr>
        <p:spPr>
          <a:xfrm>
            <a:off x="4690872" y="393192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2" name="Text 30"/>
          <p:cNvSpPr/>
          <p:nvPr/>
        </p:nvSpPr>
        <p:spPr>
          <a:xfrm>
            <a:off x="4690872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370332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53208" y="4114800"/>
            <a:ext cx="346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Attention-mekanismi, NLP-sovellukset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Miksi neuroverkot?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02336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023360" cy="47548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347472" y="9601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Perinteinen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koneoppiminen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Lineaarinen &amp; logistinen regressio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Päätöspuut &amp; satunnaismetsät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ja k-NN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Piirteiden valinta ja muokkaus käsin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Ristiinvalidointi, bias–variance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3159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315968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4663440" y="960120"/>
            <a:ext cx="4133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Mitä neuroverkot lisäävät?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1508760"/>
            <a:ext cx="409651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Automaattinen piirteen oppiminen datasta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Hierarkkiset esitykset (yksinkertaisesta monimutkaiseen)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Erinomainen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skaalautuvuus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suuriin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datasetteihin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Kuva, teksti, audio, video – sama arkkitehtuuri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Suorituskyky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lyhyesti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pic>
        <p:nvPicPr>
          <p:cNvPr id="5" name="Image 0" descr="/sessions/peaceful-quirky-cannon/work/diagrams/timelin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960120"/>
            <a:ext cx="868680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Keinoneuroni – perusrakennuspalikan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38404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621024" cy="3840480"/>
          </a:xfrm>
          <a:prstGeom prst="rect">
            <a:avLst/>
          </a:prstGeom>
          <a:noFill/>
          <a:ln/>
        </p:spPr>
        <p:txBody>
          <a:bodyPr wrap="square" lIns="101600" tIns="101600" rIns="10160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Biologinen inspiraatio
</a:t>
            </a:r>
            <a:endParaRPr lang="en-US" sz="1300" dirty="0"/>
          </a:p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Kuten aivoneuroni: saa signaaleja, painottaa ne ja lähettää aktivaation eteenpäin.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Matemaattisesti
</a:t>
            </a:r>
            <a:endParaRPr lang="en-US" sz="130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Syötteet x₁…xₙ kerrotaan painoilla w₁…wₙ,
summataan bias b ja sovelletaan aktivointifunktiota f:
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 = f( w·x + b )
</a:t>
            </a:r>
            <a:endParaRPr lang="en-US" sz="130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Parametrit (w, b) opitaan harjoitteluvaiheessa.</a:t>
            </a:r>
            <a:endParaRPr lang="en-US" sz="1300" dirty="0"/>
          </a:p>
        </p:txBody>
      </p:sp>
      <p:pic>
        <p:nvPicPr>
          <p:cNvPr id="7" name="Image 0" descr="/sessions/peaceful-quirky-cannon/work/diagrams/neur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06240" y="960120"/>
            <a:ext cx="4681728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Aktivointifunktiot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256032" y="932688"/>
            <a:ext cx="8631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Ilman aktivointifunktiota verkko on vain lineaarinen kuvaus – ei kykene oppimaan monimutkaisia ilmiöitä.</a:t>
            </a:r>
            <a:endParaRPr lang="en-US" sz="1300" dirty="0"/>
          </a:p>
        </p:txBody>
      </p:sp>
      <p:pic>
        <p:nvPicPr>
          <p:cNvPr id="6" name="Image 0" descr="/sessions/peaceful-quirky-cannon/work/diagrams/activ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389888"/>
            <a:ext cx="8631936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on nykyisin yleisin valinta piilokerroksiin – yksinkertainen ja tehokas. Softmax käytetään luokittelun lähtökerroksessa.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Täysin kytketty verkko (MLP)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pic>
        <p:nvPicPr>
          <p:cNvPr id="5" name="Image 0" descr="/sessions/peaceful-quirky-cannon/work/diagrams/ml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548640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0" y="960120"/>
            <a:ext cx="29443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Text 4"/>
          <p:cNvSpPr/>
          <p:nvPr/>
        </p:nvSpPr>
        <p:spPr>
          <a:xfrm>
            <a:off x="6053328" y="1024128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Syötekerros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053328" y="1344168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 neuroni per syötemuuttuja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53328" y="1874520"/>
            <a:ext cx="2651760" cy="0"/>
          </a:xfrm>
          <a:prstGeom prst="line">
            <a:avLst/>
          </a:prstGeom>
          <a:noFill/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7"/>
          <p:cNvSpPr/>
          <p:nvPr/>
        </p:nvSpPr>
        <p:spPr>
          <a:xfrm>
            <a:off x="6053328" y="1975104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Piilokerrokset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53328" y="2295144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Opitaan automaattisesti piirteet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53328" y="2825496"/>
            <a:ext cx="2651760" cy="0"/>
          </a:xfrm>
          <a:prstGeom prst="line">
            <a:avLst/>
          </a:prstGeom>
          <a:noFill/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0"/>
          <p:cNvSpPr/>
          <p:nvPr/>
        </p:nvSpPr>
        <p:spPr>
          <a:xfrm>
            <a:off x="6053328" y="2926080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Lähtökerros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53328" y="3246120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Luokittelu: softmax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Regressio: lineaarinen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53328" y="3776472"/>
            <a:ext cx="2651760" cy="0"/>
          </a:xfrm>
          <a:prstGeom prst="line">
            <a:avLst/>
          </a:prstGeom>
          <a:noFill/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3"/>
          <p:cNvSpPr/>
          <p:nvPr/>
        </p:nvSpPr>
        <p:spPr>
          <a:xfrm>
            <a:off x="6053328" y="3877056"/>
            <a:ext cx="2724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053328" y="4197096"/>
            <a:ext cx="2724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Jokainen yhteys = yksi paino 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bias b per neuroni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Harjoitteluprosessi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Kuinka verkko oppii datasta?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Harjoitteluprosessi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pic>
        <p:nvPicPr>
          <p:cNvPr id="5" name="Image 0" descr="/sessions/peaceful-quirky-cannon/work/diagrams/training_loo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8631936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663440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Tarkemmin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Neuroverkot-kurssilla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matematiikka, gradient descent, backpropagation-</a:t>
            </a:r>
            <a:r>
              <a:rPr lang="en-US" sz="12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Virhefunktio (Loss function)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256032" y="960120"/>
            <a:ext cx="8631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Mittaa kuinka kaukana ennuste on oikeasta vastauksesta. Harjoittelun tavoite on minimoida 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" y="150876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Shape 5"/>
          <p:cNvSpPr/>
          <p:nvPr/>
        </p:nvSpPr>
        <p:spPr>
          <a:xfrm>
            <a:off x="256032" y="1508760"/>
            <a:ext cx="2834640" cy="402336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347472" y="1508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– Mean Squared 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(1/n) Σ (ŷᵢ − yᵢ)²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2788920"/>
            <a:ext cx="2560320" cy="0"/>
          </a:xfrm>
          <a:prstGeom prst="line">
            <a:avLst/>
          </a:prstGeom>
          <a:noFill/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347472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" y="3200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Regressiotehtävät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(jatkuvat arvot)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18688" y="150876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3218688" y="1508760"/>
            <a:ext cx="2834640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3310128" y="1508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−[ y log ŷ + (1−y) log(1−ŷ) ]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310128" y="2788920"/>
            <a:ext cx="2560320" cy="0"/>
          </a:xfrm>
          <a:prstGeom prst="line">
            <a:avLst/>
          </a:prstGeom>
          <a:noFill/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Text 16"/>
          <p:cNvSpPr/>
          <p:nvPr/>
        </p:nvSpPr>
        <p:spPr>
          <a:xfrm>
            <a:off x="3310128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3200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Binäärinen luokittelu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luokkaa)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81344" y="1508760"/>
            <a:ext cx="283464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21" name="Shape 19"/>
          <p:cNvSpPr/>
          <p:nvPr/>
        </p:nvSpPr>
        <p:spPr>
          <a:xfrm>
            <a:off x="6181344" y="1508760"/>
            <a:ext cx="28346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6272784" y="150876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011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− Σₖ yₖ log ŷₖ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72784" y="2788920"/>
            <a:ext cx="2560320" cy="0"/>
          </a:xfrm>
          <a:prstGeom prst="line">
            <a:avLst/>
          </a:prstGeom>
          <a:noFill/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5" name="Text 23"/>
          <p:cNvSpPr/>
          <p:nvPr/>
        </p:nvSpPr>
        <p:spPr>
          <a:xfrm>
            <a:off x="6272784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Käyttö: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72784" y="320040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Moniluokkainen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luokittelu (&gt;2 luokkaa)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&amp; backpropagation-</a:t>
            </a:r>
            <a:r>
              <a:rPr lang="en-US" sz="2800" b="1" dirty="0" err="1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256032" y="960120"/>
            <a:ext cx="8631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Nämä aiheet käsitellään syvällisemmin parallellikurssilla – tässä lyhyt yleiskuva.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2834640" cy="64008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Shape 6"/>
          <p:cNvSpPr/>
          <p:nvPr/>
        </p:nvSpPr>
        <p:spPr>
          <a:xfrm>
            <a:off x="365760" y="1527048"/>
            <a:ext cx="502920" cy="5029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9" name="Text 7"/>
          <p:cNvSpPr/>
          <p:nvPr/>
        </p:nvSpPr>
        <p:spPr>
          <a:xfrm>
            <a:off x="36576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15270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633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Siirrytään virhe-pinta-alalla alaspäin: pienennetään virheä löytämällä suunta, johon painojen muuttaminen auttaa eniten.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 ← w − η · ∂L/∂w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oppimisaste (learning rate)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18688" y="146304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3" name="Shape 11"/>
          <p:cNvSpPr/>
          <p:nvPr/>
        </p:nvSpPr>
        <p:spPr>
          <a:xfrm>
            <a:off x="3218688" y="1463040"/>
            <a:ext cx="283464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3328416" y="1527048"/>
            <a:ext cx="502920" cy="5029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3328416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15270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Backpropagation-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28416" y="2194560"/>
            <a:ext cx="2633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Laskee gradientin jokaiselle painolle tehokkaasti ketjusäännön avulla: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Aloitetaan lähtökerroksesta → edetään taaksepäin kerros kerrallaan → päivitetään kaikki painot.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81344" y="1463040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9" name="Shape 17"/>
          <p:cNvSpPr/>
          <p:nvPr/>
        </p:nvSpPr>
        <p:spPr>
          <a:xfrm>
            <a:off x="6181344" y="1463040"/>
            <a:ext cx="28346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0" name="Shape 18"/>
          <p:cNvSpPr/>
          <p:nvPr/>
        </p:nvSpPr>
        <p:spPr>
          <a:xfrm>
            <a:off x="6291072" y="1527048"/>
            <a:ext cx="502920" cy="50292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1" name="Text 19"/>
          <p:cNvSpPr/>
          <p:nvPr/>
        </p:nvSpPr>
        <p:spPr>
          <a:xfrm>
            <a:off x="6291072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94576" y="15270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Käytännössä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2194560"/>
            <a:ext cx="26334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ja TensorFlow laskevat gradientin automaattisesti (autograd).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Optimoijat: SGD, Adam, RMSProp…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tarvitse laskea käsin!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Konvolutiiviset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neuroverkot (CNN)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Kuvantunnistus ja spatiaaliset rakenteet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Miksi emme voi käyttää tavallista MLP:tä kuviin?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pic>
        <p:nvPicPr>
          <p:cNvPr id="5" name="Image 0" descr="/sessions/peaceful-quirky-cannon/work/diagrams/mlp_sca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8631936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Konvoluutiokerros – miten se toimii?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09728" cy="18745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Filttteri (kernel)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Pieni matriisi (esim. 3×3), jonka painot opitaan. Se liukuu kuvan yli ja laskee pistetulot.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30358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0" name="Shape 8"/>
          <p:cNvSpPr/>
          <p:nvPr/>
        </p:nvSpPr>
        <p:spPr>
          <a:xfrm>
            <a:off x="256032" y="3035808"/>
            <a:ext cx="109728" cy="1874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Paikallinen yhteysrakenne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Jokainen neuroni näkee vain pienen alueen syötteestä → vähemmän parametreja kuin MLP:ssä.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99432" y="1005840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4599432" y="1005840"/>
            <a:ext cx="109728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4800600" y="1115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Painojen jakaminen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463040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filtteri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liikkuu koko kuvan yli → verkko on siirtoinvariantti (kissa tunnistetaan missä tahansa kuvassa).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99432" y="3035808"/>
            <a:ext cx="411480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8" name="Shape 16"/>
          <p:cNvSpPr/>
          <p:nvPr/>
        </p:nvSpPr>
        <p:spPr>
          <a:xfrm>
            <a:off x="4599432" y="3035808"/>
            <a:ext cx="109728" cy="187452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4800600" y="31455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Pooling-kerros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3493008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Pienentää tilan kokoa (esim. Max Pooling 2×2). Lisää robustisuutta pienille siirtymille.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– Arkkitehtuuri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pic>
        <p:nvPicPr>
          <p:cNvPr id="5" name="Image 0" descr="/sessions/peaceful-quirky-cannon/work/diagrams/cn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863193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" y="4681728"/>
            <a:ext cx="8631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Parallellikurssilla: MNIST-luokittelu (käsinkirjoitetut numerot) ja CIFAR-10-luokittelu (10 esinekategoriaa).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Muut arkkitehtuurit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Lyhyt katsaus – mitä emme käytä tällä kurssilla ja miksi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ja LSTM – miksi emme käytä niitä?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256032" y="960120"/>
            <a:ext cx="8631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Rekurrentteja verkkoja (RNN, LSTM, GRU) käytettiin sekvenssidata-tehtävissä ennen Transformereita.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2834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Shape 5"/>
          <p:cNvSpPr/>
          <p:nvPr/>
        </p:nvSpPr>
        <p:spPr>
          <a:xfrm>
            <a:off x="256032" y="1463040"/>
            <a:ext cx="2834640" cy="548640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365760" y="15270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Mikä on RNN?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151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Verkko, jolla on sisäinen tila (muisti). Käsittelee sekvenssiä askel kerrallaan. Voi periaatteessa muistaa aiemman kontekstin.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18688" y="1463040"/>
            <a:ext cx="2834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1" name="Shape 9"/>
          <p:cNvSpPr/>
          <p:nvPr/>
        </p:nvSpPr>
        <p:spPr>
          <a:xfrm>
            <a:off x="3218688" y="1463040"/>
            <a:ext cx="283464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3328416" y="15270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Mikä on LSTM?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8416" y="2103120"/>
            <a:ext cx="26151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 – RNN:n parannus, jolla porttirakenne auttaa pitkien riippuvuuksien oppimisessa ja häipyvän gradientin ongelmaan.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83464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5" name="Shape 13"/>
          <p:cNvSpPr/>
          <p:nvPr/>
        </p:nvSpPr>
        <p:spPr>
          <a:xfrm>
            <a:off x="6181344" y="1463040"/>
            <a:ext cx="283464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/>
          <p:nvPr/>
        </p:nvSpPr>
        <p:spPr>
          <a:xfrm>
            <a:off x="6291072" y="1527048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Miksi ei enää suosittu?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103120"/>
            <a:ext cx="261518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Hidas kouluttaa (ei rinnakkaistettavissa)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Vaikea oppia erittäin pitkiä riippuvuuksia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Transformer on syrjäyttänyt lähes kaikilla NLP-tehtävillä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6032" y="4754880"/>
            <a:ext cx="8631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Tällä kurssilla käytämme suoraan Transformereita sekvenssi- ja NLP-tehtäviin.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 (Vaswani et al., 2017)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– motivaatio ja vahvuudet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41148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09728" cy="1901952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Rinnakkaisuus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Koko sekvenssi käsitellään yhtä aikaa – ei askel kerrallaan kuten RNN:ssä. Paljon nopeampi kouluttaa.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99432" y="1005840"/>
            <a:ext cx="41148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0" name="Shape 8"/>
          <p:cNvSpPr/>
          <p:nvPr/>
        </p:nvSpPr>
        <p:spPr>
          <a:xfrm>
            <a:off x="4599432" y="1005840"/>
            <a:ext cx="109728" cy="19019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4800600" y="11155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Pitkät riippuvuudet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00600" y="1463040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Attention-mekanismi yhdistää suoraan minkä tahansa kaksi kohtaa sekvenssistä etäisyydestä riippumatta.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" y="3063240"/>
            <a:ext cx="41148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256032" y="3063240"/>
            <a:ext cx="109728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457200" y="31729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Siirto-oppiminen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Suuri esikoulutettu malli (BERT, GPT) voidaan hienosäätää pienellä datalla moneen tehtävään.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99432" y="3063240"/>
            <a:ext cx="4114800" cy="1901952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8" name="Shape 16"/>
          <p:cNvSpPr/>
          <p:nvPr/>
        </p:nvSpPr>
        <p:spPr>
          <a:xfrm>
            <a:off x="4599432" y="3063240"/>
            <a:ext cx="109728" cy="1901952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4800600" y="31729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Yleisyys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Aluksi NLP:hen, nyt myös kuva (ViT), audio, proteiinit (AlphaFold)…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Huomio-mekanismi (Attention)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pic>
        <p:nvPicPr>
          <p:cNvPr id="5" name="Image 0" descr="/sessions/peaceful-quirky-cannon/work/diagrams/atten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960120"/>
            <a:ext cx="5029200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40680" y="960120"/>
            <a:ext cx="344728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7" name="Text 4"/>
          <p:cNvSpPr/>
          <p:nvPr/>
        </p:nvSpPr>
        <p:spPr>
          <a:xfrm>
            <a:off x="5550408" y="1051560"/>
            <a:ext cx="3246120" cy="3794760"/>
          </a:xfrm>
          <a:prstGeom prst="rect">
            <a:avLst/>
          </a:prstGeom>
          <a:noFill/>
          <a:ln/>
        </p:spPr>
        <p:txBody>
          <a:bodyPr wrap="square" lIns="101600" tIns="101600" rIns="10160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Pääidea
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Jokaiselle kohdekentän elementille lasketaan, kuinka paljon "huomiota" se kiinnittää kuhunkin lähdekentän elementtiin.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/ K / V -vektorit
</a:t>
            </a:r>
            <a:endParaRPr lang="en-US" sz="1350" dirty="0"/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(Q): mitä haetaan
Key (K): mitä tarjotaan
Value (V): varsinainen sisältö
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Huomiopisteet
</a:t>
            </a:r>
            <a:endParaRPr lang="en-US" sz="1350" dirty="0"/>
          </a:p>
          <a:p>
            <a:pPr marL="0" indent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Attention(Q,K,V) = softmax(QKᵀ/√d) · V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Transformer-arkkitehtuuri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4151376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4151376" cy="47548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Enkooderi (Encoder)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Syötteen sanaupotusten (word embeddings) laskenta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Positiokoodeukset – järjestystieto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Multi-Head Self-Attention -kerros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× Feed-Forward -kerros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Residuaalikytkennät ja LayerNorm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08576" y="960120"/>
            <a:ext cx="4151376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0" name="Shape 8"/>
          <p:cNvSpPr/>
          <p:nvPr/>
        </p:nvSpPr>
        <p:spPr>
          <a:xfrm>
            <a:off x="4608576" y="960120"/>
            <a:ext cx="4151376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4718304" y="9601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Dekooderi (Decoder)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18304" y="1508760"/>
            <a:ext cx="39319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Kohdesekvenssille samat upotukset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 (ei katso tulevaisuuteen)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katselee enkooderin tulostetta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+ Residuaali + LayerNorm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Lineaarinen + Softmax → todennäköisyys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Yhteenveto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146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Milloin mitäkin? Mitä tällä kurssilla?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2286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Milloin mitäkin arkkitehtuuria?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137160" y="987552"/>
            <a:ext cx="1645920" cy="475488"/>
          </a:xfrm>
          <a:prstGeom prst="rect">
            <a:avLst/>
          </a:prstGeom>
          <a:solidFill>
            <a:srgbClr val="0B3C5D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210312" y="102412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Arkkitehtuuri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83080" y="987552"/>
            <a:ext cx="2286000" cy="475488"/>
          </a:xfrm>
          <a:prstGeom prst="rect">
            <a:avLst/>
          </a:prstGeom>
          <a:solidFill>
            <a:srgbClr val="0B3C5D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1856232" y="1024128"/>
            <a:ext cx="2139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Sovellusala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987552"/>
            <a:ext cx="2468880" cy="475488"/>
          </a:xfrm>
          <a:prstGeom prst="rect">
            <a:avLst/>
          </a:prstGeom>
          <a:solidFill>
            <a:srgbClr val="0B3C5D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4142232" y="102412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Vahvuudet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987552"/>
            <a:ext cx="2468880" cy="475488"/>
          </a:xfrm>
          <a:prstGeom prst="rect">
            <a:avLst/>
          </a:prstGeom>
          <a:solidFill>
            <a:srgbClr val="0B3C5D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6611112" y="1024128"/>
            <a:ext cx="23225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Rajoitukset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7160" y="1463040"/>
            <a:ext cx="1645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4" name="Text 12"/>
          <p:cNvSpPr/>
          <p:nvPr/>
        </p:nvSpPr>
        <p:spPr>
          <a:xfrm>
            <a:off x="210312" y="1499616"/>
            <a:ext cx="1499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(Täysin kytketty)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783080" y="1463040"/>
            <a:ext cx="2286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/>
          <p:nvPr/>
        </p:nvSpPr>
        <p:spPr>
          <a:xfrm>
            <a:off x="1856232" y="149961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Taulukkomuotoinen data,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yksinkertainen regressio/luokittelu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146304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8" name="Text 16"/>
          <p:cNvSpPr/>
          <p:nvPr/>
        </p:nvSpPr>
        <p:spPr>
          <a:xfrm>
            <a:off x="4142232" y="149961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Yksinkertainen, helppo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ymmärtää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146304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0" name="Text 18"/>
          <p:cNvSpPr/>
          <p:nvPr/>
        </p:nvSpPr>
        <p:spPr>
          <a:xfrm>
            <a:off x="6611112" y="149961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Skaalautuu huonosti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kuviin ja sekvensseihin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37160" y="2331720"/>
            <a:ext cx="164592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210312" y="2368296"/>
            <a:ext cx="1499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783080" y="2331720"/>
            <a:ext cx="228600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4" name="Text 22"/>
          <p:cNvSpPr/>
          <p:nvPr/>
        </p:nvSpPr>
        <p:spPr>
          <a:xfrm>
            <a:off x="1856232" y="236829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Kuva- ja videotehtävät,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69080" y="2331720"/>
            <a:ext cx="246888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/>
          <p:nvPr/>
        </p:nvSpPr>
        <p:spPr>
          <a:xfrm>
            <a:off x="4142232" y="236829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Tehokas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paikallisten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piirteiden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oppimisessa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2331720"/>
            <a:ext cx="246888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8" name="Text 26"/>
          <p:cNvSpPr/>
          <p:nvPr/>
        </p:nvSpPr>
        <p:spPr>
          <a:xfrm>
            <a:off x="6611112" y="236829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luontaisesti kielitaitoa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pitkille sekvensseihin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7160" y="3200400"/>
            <a:ext cx="1645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0" name="Text 28"/>
          <p:cNvSpPr/>
          <p:nvPr/>
        </p:nvSpPr>
        <p:spPr>
          <a:xfrm>
            <a:off x="210312" y="3236976"/>
            <a:ext cx="1499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1783080" y="3200400"/>
            <a:ext cx="22860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2" name="Text 30"/>
          <p:cNvSpPr/>
          <p:nvPr/>
        </p:nvSpPr>
        <p:spPr>
          <a:xfrm>
            <a:off x="1856232" y="323697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NLP, kääntäminen,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tekstiluokittelu, kuva (ViT)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069080" y="320040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4" name="Text 32"/>
          <p:cNvSpPr/>
          <p:nvPr/>
        </p:nvSpPr>
        <p:spPr>
          <a:xfrm>
            <a:off x="4142232" y="323697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Pitkät riippuvuudet,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rinnastaistettava, siirto-oppiminen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3200400"/>
            <a:ext cx="24688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6" name="Text 34"/>
          <p:cNvSpPr/>
          <p:nvPr/>
        </p:nvSpPr>
        <p:spPr>
          <a:xfrm>
            <a:off x="6611112" y="323697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Vaatii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paljon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dataa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</a:t>
            </a:r>
            <a:endParaRPr lang="en-US" sz="1150" dirty="0"/>
          </a:p>
          <a:p>
            <a:pPr marL="0" indent="0">
              <a:buNone/>
            </a:pP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laskentatehoa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37160" y="4069080"/>
            <a:ext cx="164592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8" name="Text 36"/>
          <p:cNvSpPr/>
          <p:nvPr/>
        </p:nvSpPr>
        <p:spPr>
          <a:xfrm>
            <a:off x="210312" y="4105656"/>
            <a:ext cx="149961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783080" y="4069080"/>
            <a:ext cx="228600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0" name="Text 38"/>
          <p:cNvSpPr/>
          <p:nvPr/>
        </p:nvSpPr>
        <p:spPr>
          <a:xfrm>
            <a:off x="1856232" y="4105656"/>
            <a:ext cx="2139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Sekvenssidata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(historiallinen)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069080" y="4069080"/>
            <a:ext cx="246888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2" name="Text 40"/>
          <p:cNvSpPr/>
          <p:nvPr/>
        </p:nvSpPr>
        <p:spPr>
          <a:xfrm>
            <a:off x="4142232" y="410565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Muisti sekvenssille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537960" y="4069080"/>
            <a:ext cx="2468880" cy="868680"/>
          </a:xfrm>
          <a:prstGeom prst="rect">
            <a:avLst/>
          </a:prstGeom>
          <a:solidFill>
            <a:srgbClr val="F7FBFF"/>
          </a:solidFill>
          <a:ln w="6350">
            <a:solidFill>
              <a:srgbClr val="D4E6F1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4" name="Text 42"/>
          <p:cNvSpPr/>
          <p:nvPr/>
        </p:nvSpPr>
        <p:spPr>
          <a:xfrm>
            <a:off x="6611112" y="4105656"/>
            <a:ext cx="23225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Hidas,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katoava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gradientti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syrjäytetty Transformereilla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Text 1"/>
          <p:cNvSpPr/>
          <p:nvPr/>
        </p:nvSpPr>
        <p:spPr>
          <a:xfrm>
            <a:off x="256032" y="256032"/>
            <a:ext cx="8631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Projektikurssin</a:t>
            </a: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alustava</a:t>
            </a: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rakenne</a:t>
            </a:r>
            <a:r>
              <a:rPr lang="en-US" sz="28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 viikkoa, 6h/vko)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8631936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5" name="Shape 3"/>
          <p:cNvSpPr/>
          <p:nvPr/>
        </p:nvSpPr>
        <p:spPr>
          <a:xfrm>
            <a:off x="256032" y="1005840"/>
            <a:ext cx="86319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1005840" cy="749808"/>
          </a:xfrm>
          <a:prstGeom prst="rect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256032" y="10058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0607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Orientaatio &amp; ensimmäiset projektit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081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Tämä luento + ympäristön asennus + harjoitustehtävät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828800"/>
            <a:ext cx="86319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1" name="Shape 9"/>
          <p:cNvSpPr/>
          <p:nvPr/>
        </p:nvSpPr>
        <p:spPr>
          <a:xfrm>
            <a:off x="256032" y="1828800"/>
            <a:ext cx="100584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256032" y="182880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2–3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18836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Kuvaluokittelu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2311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CNN-projekti: MNIST tai oma datasetti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651760"/>
            <a:ext cx="86319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16" name="Shape 14"/>
          <p:cNvSpPr/>
          <p:nvPr/>
        </p:nvSpPr>
        <p:spPr>
          <a:xfrm>
            <a:off x="256032" y="2651760"/>
            <a:ext cx="1005840" cy="7498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256032" y="2651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4–5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70662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Transformer-projekti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05409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Tekstiluokittelu, kielennos tai muu valittu tehtävä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6032" y="3474720"/>
            <a:ext cx="86319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21" name="Shape 19"/>
          <p:cNvSpPr/>
          <p:nvPr/>
        </p:nvSpPr>
        <p:spPr>
          <a:xfrm>
            <a:off x="256032" y="3474720"/>
            <a:ext cx="10058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2" name="Text 20"/>
          <p:cNvSpPr/>
          <p:nvPr/>
        </p:nvSpPr>
        <p:spPr>
          <a:xfrm>
            <a:off x="256032" y="347472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6-7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35295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Oma </a:t>
            </a:r>
            <a:r>
              <a:rPr lang="en-US" sz="1300" b="1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projekti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8770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 projektin toteutus ja raportointi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" y="4297680"/>
            <a:ext cx="863193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4E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i-FI"/>
          </a:p>
        </p:txBody>
      </p:sp>
      <p:sp>
        <p:nvSpPr>
          <p:cNvPr id="26" name="Shape 24"/>
          <p:cNvSpPr/>
          <p:nvPr/>
        </p:nvSpPr>
        <p:spPr>
          <a:xfrm>
            <a:off x="256032" y="4297680"/>
            <a:ext cx="10058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27" name="Text 25"/>
          <p:cNvSpPr/>
          <p:nvPr/>
        </p:nvSpPr>
        <p:spPr>
          <a:xfrm>
            <a:off x="256032" y="429768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 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43525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Esittelyt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71600" y="47000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Ryhmäesitykset + yhteinen arviointi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Tärkeimmät muistettavat asiat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36576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6" name="Shape 4"/>
          <p:cNvSpPr/>
          <p:nvPr/>
        </p:nvSpPr>
        <p:spPr>
          <a:xfrm>
            <a:off x="731520" y="117043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731520" y="11704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70432" y="1170432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Neuroverkko on joukko neuroneita kerroksissa – parametrit opitaan datasta automaattisesti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731520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1892808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sopii taulukkomuotoiseen dataan; CNN kuviin; Transformer sekvenssidataan ja NLP:hen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2615184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3" name="Text 11"/>
          <p:cNvSpPr/>
          <p:nvPr/>
        </p:nvSpPr>
        <p:spPr>
          <a:xfrm>
            <a:off x="73152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2615184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Harjoittelu = forward pass + loss + backprop + painojen päivitys (gradientilla)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333756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6" name="Text 14"/>
          <p:cNvSpPr/>
          <p:nvPr/>
        </p:nvSpPr>
        <p:spPr>
          <a:xfrm>
            <a:off x="7315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3337560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 ovat historiaa – Transformer on nykyinen standardi sekvenssitehtäviin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4059936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731520" y="40599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4059936"/>
            <a:ext cx="7607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Neuroverkot-kurssilla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matematiikkaa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tällä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kurssilla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kokeillaan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toimivia malleja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1149</Words>
  <Application>Microsoft Macintosh PowerPoint</Application>
  <PresentationFormat>Näytössä katseltava esitys (16:9)</PresentationFormat>
  <Paragraphs>245</Paragraphs>
  <Slides>25</Slides>
  <Notes>25</Notes>
  <HiddenSlides>0</HiddenSlides>
  <MMClips>0</MMClips>
  <ScaleCrop>false</ScaleCrop>
  <HeadingPairs>
    <vt:vector size="6" baseType="variant">
      <vt:variant>
        <vt:lpstr>Käytetyt fontit</vt:lpstr>
      </vt:variant>
      <vt:variant>
        <vt:i4>2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Johdanto neuroverkkoihin</dc:title>
  <dc:subject>Neuroverkkoprojekti - johdantoluento</dc:subject>
  <dc:creator>Neuroverkkoprojekti</dc:creator>
  <cp:lastModifiedBy>Mikko Pere</cp:lastModifiedBy>
  <cp:revision>5</cp:revision>
  <dcterms:created xsi:type="dcterms:W3CDTF">2026-03-11T13:02:33Z</dcterms:created>
  <dcterms:modified xsi:type="dcterms:W3CDTF">2026-03-15T19:28:31Z</dcterms:modified>
</cp:coreProperties>
</file>